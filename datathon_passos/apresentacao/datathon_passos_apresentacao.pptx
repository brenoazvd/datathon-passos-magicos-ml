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apresentar o projeto como uma ferramenta de cuidado preventivo, não como uma solução mágica.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o foco é priorização preventiva. A banca precisa ver problema, evidência e decisão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a engenharia de dados foi parte da solução. A EDA e a modelagem dependem da base padronizada.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separação: 2022 e 2023 para aprender e validar; 2024 para aplicar o score em alunos atuais.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Pontuar que NaN não foi escondido nem preenchido. O ajuste foi padronização metodológica.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a EDA com o modelo: a análise mostrou padrões e limitações, mas a priorização precisa de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Falar que a acurácia existe, mas não é a estrela. Para prevenção, recall e F1 da classe de risco importam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trade-off: falsos positivos geram revisão; falsos negativos podem deixar aluno em risco sem acompanhamento.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2024 é aplicação do score. O modelo prioriza, não sentencia.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app como ponte entre modelo e operação. O valor está na leitura simples para priorização.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 ideia central: o modelo ajuda a olhar antes e organizar a atuação, sem substituir 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Datathon Passos Mágicos | 1</a:t>
            </a:r>
            <a:endParaRPr lang="en-US" sz="550" dirty="0"/>
          </a:p>
        </p:txBody>
      </p:sp>
      <p:sp>
        <p:nvSpPr>
          <p:cNvPr id="3" name="Shape 1"/>
          <p:cNvSpPr/>
          <p:nvPr/>
        </p:nvSpPr>
        <p:spPr>
          <a:xfrm>
            <a:off x="7955280" y="0"/>
            <a:ext cx="4233672" cy="6858000"/>
          </a:xfrm>
          <a:prstGeom prst="rect">
            <a:avLst/>
          </a:prstGeom>
          <a:solidFill>
            <a:srgbClr val="2F7D55"/>
          </a:solidFill>
          <a:ln w="12700">
            <a:solidFill>
              <a:srgbClr val="2F7D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38988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</a:rPr>
              <a:t>Datathon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</a:rPr>
              <a:t>Passos Mágicos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6072" y="24505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D665F"/>
                </a:solidFill>
              </a:rPr>
              <a:t>Dados para olhar antes, priorizar melhor e agir com mais evidência.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594360" y="3081528"/>
            <a:ext cx="2423160" cy="320040"/>
          </a:xfrm>
          <a:prstGeom prst="rect">
            <a:avLst/>
          </a:prstGeom>
          <a:solidFill>
            <a:srgbClr val="D9F0E2"/>
          </a:solidFill>
          <a:ln w="12700">
            <a:solidFill>
              <a:srgbClr val="D9F0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3200400"/>
            <a:ext cx="213055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2F7D55"/>
                </a:solidFill>
              </a:rPr>
              <a:t>EDA + Modelo + App Streamlit</a:t>
            </a:r>
            <a:endParaRPr lang="en-US" sz="710" dirty="0"/>
          </a:p>
        </p:txBody>
      </p:sp>
      <p:sp>
        <p:nvSpPr>
          <p:cNvPr id="8" name="Text 6"/>
          <p:cNvSpPr/>
          <p:nvPr/>
        </p:nvSpPr>
        <p:spPr>
          <a:xfrm>
            <a:off x="594360" y="41605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6F97"/>
                </a:solidFill>
              </a:rPr>
              <a:t>1.661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45445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D665F"/>
                </a:solidFill>
              </a:rPr>
              <a:t>alunos na base tratada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2697480" y="41605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7D55"/>
                </a:solidFill>
              </a:rPr>
              <a:t>1.156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697480" y="45445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D665F"/>
                </a:solidFill>
              </a:rPr>
              <a:t>alunos avaliados em 2024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4754880" y="41605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22B"/>
                </a:solidFill>
              </a:rPr>
              <a:t>755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45445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D665F"/>
                </a:solidFill>
              </a:rPr>
              <a:t>sinalizados para atenção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8275320" y="4709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modelo de risco de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defasagem / piora educacional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75320" y="551383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8F5EE"/>
                </a:solidFill>
              </a:rPr>
              <a:t>não é sobre substituir a equipe;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8F5EE"/>
                </a:solidFill>
              </a:rPr>
              <a:t>é sobre ajudar antes.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594360" y="598932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D665F"/>
                </a:solidFill>
              </a:rPr>
              <a:t>Breno Azevedo</a:t>
            </a:r>
            <a:endParaRPr lang="en-US" sz="5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Datathon Passos Mágicos | 2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438912" y="3474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2F7D55"/>
                </a:solidFill>
              </a:rPr>
              <a:t>PONTO DE PARTIDA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A pergunta não era: qual gráfico fica bonito?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8912" y="1152144"/>
            <a:ext cx="7315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D665F"/>
                </a:solidFill>
              </a:rPr>
              <a:t>Era mais simples e mais difícil ao mesmo tempo.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1717"/>
                </a:solidFill>
              </a:rPr>
              <a:t>quais alunos ou grupos dão sinal de risco antes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71717"/>
                </a:solidFill>
              </a:rPr>
              <a:t>da piora aparecer de vez?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5800" y="2450592"/>
            <a:ext cx="3703320" cy="822960"/>
          </a:xfrm>
          <a:prstGeom prst="rect">
            <a:avLst/>
          </a:prstGeom>
          <a:solidFill>
            <a:srgbClr val="FFE4C2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2569464"/>
            <a:ext cx="341071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71717"/>
                </a:solidFill>
              </a:rPr>
              <a:t>O desafio do Datathon pede risco de defasagem: queda de desempenho ou aumento de defasagem. Não é um modelo direto de evasão.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4709160" y="2450592"/>
            <a:ext cx="3749040" cy="822960"/>
          </a:xfrm>
          <a:prstGeom prst="rect">
            <a:avLst/>
          </a:prstGeom>
          <a:solidFill>
            <a:srgbClr val="D9F0E2"/>
          </a:solidFill>
          <a:ln w="12700">
            <a:solidFill>
              <a:srgbClr val="2F7D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55464" y="2569464"/>
            <a:ext cx="34564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71717"/>
                </a:solidFill>
              </a:rPr>
              <a:t>Por isso, a entrega junta três coisas: EDA com história, modelo preditivo e app simples para uso.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685800" y="37307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7D55"/>
                </a:solidFill>
              </a:rPr>
              <a:t>Traduzindo para a prática: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40690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</a:rPr>
              <a:t>não basta prever; tem que explicar o suficiente para alguém agir.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Datathon Passos Mágicos | 3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438912" y="3474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2F7D55"/>
                </a:solidFill>
              </a:rPr>
              <a:t>DADOS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Primeiro, a base precisou virar uma base confiável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1717"/>
                </a:solidFill>
              </a:rPr>
              <a:t>Fluxo do projeto</a:t>
            </a:r>
            <a:endParaRPr lang="en-US" sz="850" dirty="0"/>
          </a:p>
        </p:txBody>
      </p:sp>
      <p:pic>
        <p:nvPicPr>
          <p:cNvPr id="6" name="Image 0" descr="C:\Users\00157NLUC-BrenoR\Datathon\datathon_passos\apresentacao\figures\01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420624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0" y="1143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6F97"/>
                </a:solidFill>
              </a:rPr>
              <a:t>5.490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89520" y="15270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D665F"/>
                </a:solidFill>
              </a:rPr>
              <a:t>registros na Silver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9098280" y="1143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7D55"/>
                </a:solidFill>
              </a:rPr>
              <a:t>1.661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098280" y="15270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D665F"/>
                </a:solidFill>
              </a:rPr>
              <a:t>alunos únicos</a:t>
            </a:r>
            <a:endParaRPr lang="en-US" sz="680" dirty="0"/>
          </a:p>
        </p:txBody>
      </p:sp>
      <p:sp>
        <p:nvSpPr>
          <p:cNvPr id="11" name="Shape 8"/>
          <p:cNvSpPr/>
          <p:nvPr/>
        </p:nvSpPr>
        <p:spPr>
          <a:xfrm>
            <a:off x="7360920" y="274320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07224" y="2862072"/>
            <a:ext cx="318211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1717"/>
                </a:solidFill>
              </a:rPr>
              <a:t>A parte mais importante aqui foi não recomeçar do zero: usamos as camadas Silver/Gold já geradas e seguimos o fluxo do projeto.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777240" y="52120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</a:rPr>
              <a:t>Isso deixa o trabalho mais defensável: a análise e o modelo saem de uma base padronizada, não de planilhas soltas.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Datathon Passos Mágicos | 4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438912" y="3474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2F7D55"/>
                </a:solidFill>
              </a:rPr>
              <a:t>COBERTURA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Tem bastante dado, mas nem todo ano serve para a mesma coisa</a:t>
            </a:r>
            <a:endParaRPr lang="en-US" sz="1600" dirty="0"/>
          </a:p>
        </p:txBody>
      </p:sp>
      <p:pic>
        <p:nvPicPr>
          <p:cNvPr id="5" name="Image 0" descr="C:\Users\00157NLUC-BrenoR\Datathon\datathon_passos\apresentacao\figures\02_cober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5715000" cy="3337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463040"/>
            <a:ext cx="3886200" cy="960120"/>
          </a:xfrm>
          <a:prstGeom prst="rect">
            <a:avLst/>
          </a:prstGeom>
          <a:solidFill>
            <a:srgbClr val="FFE4C2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29984" y="1581912"/>
            <a:ext cx="359359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71717"/>
                </a:solidFill>
              </a:rPr>
              <a:t>2024 entra como aplicação do score. Ele não tem target real porque ainda não existe o desfecho completo para validar.</a:t>
            </a:r>
            <a:endParaRPr lang="en-US" sz="830" dirty="0"/>
          </a:p>
        </p:txBody>
      </p:sp>
      <p:sp>
        <p:nvSpPr>
          <p:cNvPr id="8" name="Shape 5"/>
          <p:cNvSpPr/>
          <p:nvPr/>
        </p:nvSpPr>
        <p:spPr>
          <a:xfrm>
            <a:off x="6583680" y="2926080"/>
            <a:ext cx="3886200" cy="960120"/>
          </a:xfrm>
          <a:prstGeom prst="rect">
            <a:avLst/>
          </a:prstGeom>
          <a:solidFill>
            <a:srgbClr val="D9F0E2"/>
          </a:solidFill>
          <a:ln w="12700">
            <a:solidFill>
              <a:srgbClr val="2F7D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29984" y="3044952"/>
            <a:ext cx="359359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71717"/>
                </a:solidFill>
              </a:rPr>
              <a:t>Treino e teste ficaram em 2022/2023, onde o resultado futuro já é conhecido e comparável.</a:t>
            </a:r>
            <a:endParaRPr lang="en-US" sz="830" dirty="0"/>
          </a:p>
        </p:txBody>
      </p:sp>
      <p:sp>
        <p:nvSpPr>
          <p:cNvPr id="10" name="Text 7"/>
          <p:cNvSpPr/>
          <p:nvPr/>
        </p:nvSpPr>
        <p:spPr>
          <a:xfrm>
            <a:off x="594360" y="541324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</a:rPr>
              <a:t>Esse cuidado evita uma leitura errada: não é que 2024 sumiu, ele virou justamente o ano para priorizar acompanhamento.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Datathon Passos Mágicos | 5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438912" y="3474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2F7D55"/>
                </a:solidFill>
              </a:rPr>
              <a:t>QUALIDADE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Um detalhe que mudava tudo: a variável fase</a:t>
            </a:r>
            <a:endParaRPr lang="en-US" sz="1600" dirty="0"/>
          </a:p>
        </p:txBody>
      </p:sp>
      <p:pic>
        <p:nvPicPr>
          <p:cNvPr id="5" name="Image 0" descr="C:\Users\00157NLUC-BrenoR\Datathon\datathon_passos\apresentacao\figures\03_fase_padroniz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457200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9320" y="14173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1717"/>
                </a:solidFill>
              </a:rPr>
              <a:t>Antes, a coluna misturava fase, turma e nomenclaturas diferentes por ano.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989320" y="2148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65F"/>
                </a:solidFill>
              </a:rPr>
              <a:t>Exemplo: 1, 1.0, FASE 1 e 1A podiam estar falando da mesma leitura analítica.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989320" y="3291840"/>
            <a:ext cx="4206240" cy="960120"/>
          </a:xfrm>
          <a:prstGeom prst="rect">
            <a:avLst/>
          </a:prstGeom>
          <a:solidFill>
            <a:srgbClr val="D9F0E2"/>
          </a:solidFill>
          <a:ln w="12700">
            <a:solidFill>
              <a:srgbClr val="2F7D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35624" y="3410712"/>
            <a:ext cx="391363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1717"/>
                </a:solidFill>
              </a:rPr>
              <a:t>A correção reduziu 96 valores originais para 11 categorias analíticas. Não foi maquiagem visual: foi qualidade de dado.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685800" y="53218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</a:rPr>
              <a:t>Depois disso, as comparações por fase ficaram bem mais honestas.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Datathon Passos Mágicos | 6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438912" y="3474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2F7D55"/>
                </a:solidFill>
              </a:rPr>
              <a:t>EDA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O que a análise exploratória deixou claro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44805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D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536192"/>
            <a:ext cx="41879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1717"/>
                </a:solidFill>
              </a:rPr>
              <a:t>1. O risco não aparece em um indicador só. Ele é uma combinação de desempenho, engajamento, defasagem e contexto.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2560320"/>
            <a:ext cx="44805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2679192"/>
            <a:ext cx="41879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1717"/>
                </a:solidFill>
              </a:rPr>
              <a:t>2. Comparar grupos exige cuidado. Ano, fase, turma e pedra podem mudar a leitura se a base não estiver padronizada.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3703320"/>
            <a:ext cx="4480560" cy="822960"/>
          </a:xfrm>
          <a:prstGeom prst="rect">
            <a:avLst/>
          </a:prstGeom>
          <a:solidFill>
            <a:srgbClr val="FFE4C2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3822192"/>
            <a:ext cx="41879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1717"/>
                </a:solidFill>
              </a:rPr>
              <a:t>3. A EDA justificou o modelo: ela mostra sinais, mas o modelo ajuda a priorizar aluno por aluno.</a:t>
            </a:r>
            <a:endParaRPr lang="en-US" sz="850" dirty="0"/>
          </a:p>
        </p:txBody>
      </p:sp>
      <p:pic>
        <p:nvPicPr>
          <p:cNvPr id="11" name="Image 0" descr="C:\Users\00157NLUC-BrenoR\Datathon\datathon_passos\apresentacao\figures\07_importanc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325880"/>
            <a:ext cx="4800600" cy="3429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53492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</a:rPr>
              <a:t>Em outras palavras: a base conta uma história, não é só uma tabela.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Datathon Passos Mágicos | 7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438912" y="3474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2F7D55"/>
                </a:solidFill>
              </a:rPr>
              <a:t>MODELO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Modelo: prever risco de defasagem, não adivinhar o futuro</a:t>
            </a:r>
            <a:endParaRPr lang="en-US" sz="1600" dirty="0"/>
          </a:p>
        </p:txBody>
      </p:sp>
      <p:pic>
        <p:nvPicPr>
          <p:cNvPr id="5" name="Image 0" descr="C:\Users\00157NLUC-BrenoR\Datathon\datathon_passos\apresentacao\figures\04_metricas_mode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98448"/>
            <a:ext cx="4572000" cy="3154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0" y="1417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55"/>
                </a:solidFill>
              </a:rPr>
              <a:t>Modelo principal: RandomForest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15000" y="1828800"/>
            <a:ext cx="411480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1717"/>
                </a:solidFill>
              </a:rPr>
              <a:t>Baseline: Logistic Regression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1717"/>
                </a:solidFill>
              </a:rPr>
              <a:t>Split treino/teste estratificado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1717"/>
                </a:solidFill>
              </a:rPr>
              <a:t>Features sem vazamento temporal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1717"/>
                </a:solidFill>
              </a:rPr>
              <a:t>Métricas além de acurácia</a:t>
            </a:r>
            <a:endParaRPr lang="en-US" sz="920" dirty="0"/>
          </a:p>
        </p:txBody>
      </p:sp>
      <p:sp>
        <p:nvSpPr>
          <p:cNvPr id="8" name="Shape 5"/>
          <p:cNvSpPr/>
          <p:nvPr/>
        </p:nvSpPr>
        <p:spPr>
          <a:xfrm>
            <a:off x="5715000" y="3337560"/>
            <a:ext cx="4251960" cy="914400"/>
          </a:xfrm>
          <a:prstGeom prst="rect">
            <a:avLst/>
          </a:prstGeom>
          <a:solidFill>
            <a:srgbClr val="D9F0E2"/>
          </a:solidFill>
          <a:ln w="12700">
            <a:solidFill>
              <a:srgbClr val="2F7D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61304" y="3456432"/>
            <a:ext cx="395935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1717"/>
                </a:solidFill>
              </a:rPr>
              <a:t>Resultado: ROC-AUC 0,80 e F1 de risco 0,73 no threshold padrão. Bom o suficiente para triagem, não para decisão automática.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685800" y="534924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</a:rPr>
              <a:t>O ponto não é 'o modelo acertou tudo'. O ponto é: ele ajuda a ordenar quem precisa ser olhado primeiro.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Datathon Passos Mágicos | 8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438912" y="3474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2F7D55"/>
                </a:solidFill>
              </a:rPr>
              <a:t>DECISÃO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O ponto de corte foi escolhido pensando em prevenção</a:t>
            </a:r>
            <a:endParaRPr lang="en-US" sz="1600" dirty="0"/>
          </a:p>
        </p:txBody>
      </p:sp>
      <p:pic>
        <p:nvPicPr>
          <p:cNvPr id="5" name="Image 0" descr="C:\Users\00157NLUC-BrenoR\Datathon\datathon_passos\apresentacao\figures\05_thresh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507492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1417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22B"/>
                </a:solidFill>
              </a:rPr>
              <a:t>86,9%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0" y="18013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D665F"/>
                </a:solidFill>
              </a:rPr>
              <a:t>recall no ponto 0,40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8183880" y="1417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7D55"/>
                </a:solidFill>
              </a:rPr>
              <a:t>0,75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183880" y="18013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D665F"/>
                </a:solidFill>
              </a:rPr>
              <a:t>F1 nesse ponto</a:t>
            </a:r>
            <a:endParaRPr lang="en-US" sz="680" dirty="0"/>
          </a:p>
        </p:txBody>
      </p:sp>
      <p:sp>
        <p:nvSpPr>
          <p:cNvPr id="10" name="Shape 7"/>
          <p:cNvSpPr/>
          <p:nvPr/>
        </p:nvSpPr>
        <p:spPr>
          <a:xfrm>
            <a:off x="6400800" y="2971800"/>
            <a:ext cx="3657600" cy="1097280"/>
          </a:xfrm>
          <a:prstGeom prst="rect">
            <a:avLst/>
          </a:prstGeom>
          <a:solidFill>
            <a:srgbClr val="FFE4C2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47104" y="3090672"/>
            <a:ext cx="336499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1717"/>
                </a:solidFill>
              </a:rPr>
              <a:t>Threshold menor sinaliza mais alunos. Isso dá mais trabalho para a equipe, mas reduz o risco de deixar alguém passar sem atenção.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85800" y="535838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</a:rPr>
              <a:t>A escolha aqui é operacional: se a ideia é prevenir, é melhor sinalizar um pouco mais e depois a equipe filtrar.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Datathon Passos Mágicos | 9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438912" y="3474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2F7D55"/>
                </a:solidFill>
              </a:rPr>
              <a:t>2024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Aplicando o modelo nos alunos de 2024</a:t>
            </a:r>
            <a:endParaRPr lang="en-US" sz="1600" dirty="0"/>
          </a:p>
        </p:txBody>
      </p:sp>
      <p:pic>
        <p:nvPicPr>
          <p:cNvPr id="5" name="Image 0" descr="C:\Users\00157NLUC-BrenoR\Datathon\datathon_passos\apresentacao\figures\06_score_2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98448"/>
            <a:ext cx="589788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95160" y="1325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6F97"/>
                </a:solidFill>
              </a:rPr>
              <a:t>1.156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995160" y="17099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D665F"/>
                </a:solidFill>
              </a:rPr>
              <a:t>alunos com score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8503920" y="1325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22B"/>
                </a:solidFill>
              </a:rPr>
              <a:t>755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503920" y="17099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D665F"/>
                </a:solidFill>
              </a:rPr>
              <a:t>sinalizados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699516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4C4C"/>
                </a:solidFill>
              </a:rPr>
              <a:t>162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995160" y="28072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D665F"/>
                </a:solidFill>
              </a:rPr>
              <a:t>prioridade alta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850392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7D55"/>
                </a:solidFill>
              </a:rPr>
              <a:t>401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503920" y="28072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D665F"/>
                </a:solidFill>
              </a:rPr>
              <a:t>monitorar</a:t>
            </a:r>
            <a:endParaRPr lang="en-US" sz="680" dirty="0"/>
          </a:p>
        </p:txBody>
      </p:sp>
      <p:sp>
        <p:nvSpPr>
          <p:cNvPr id="14" name="Shape 11"/>
          <p:cNvSpPr/>
          <p:nvPr/>
        </p:nvSpPr>
        <p:spPr>
          <a:xfrm>
            <a:off x="6995160" y="3703320"/>
            <a:ext cx="3383280" cy="1005840"/>
          </a:xfrm>
          <a:prstGeom prst="rect">
            <a:avLst/>
          </a:prstGeom>
          <a:solidFill>
            <a:srgbClr val="D9F0E2"/>
          </a:solidFill>
          <a:ln w="12700">
            <a:solidFill>
              <a:srgbClr val="2F7D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41464" y="3822192"/>
            <a:ext cx="309067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1717"/>
                </a:solidFill>
              </a:rPr>
              <a:t>Esse resultado não diz 'o aluno vai ter problema'. Ele diz: comece por aqui, porque os sinais merecem atenção.</a:t>
            </a:r>
            <a:endParaRPr lang="en-US" sz="8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Datathon Passos Mágicos | 10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438912" y="3474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2F7D55"/>
                </a:solidFill>
              </a:rPr>
              <a:t>PRODUTO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O app deixa a leitura menos técnica</a:t>
            </a:r>
            <a:endParaRPr lang="en-US" sz="1600" dirty="0"/>
          </a:p>
        </p:txBody>
      </p:sp>
      <p:pic>
        <p:nvPicPr>
          <p:cNvPr id="5" name="Image 0" descr="C:\Users\00157NLUC-BrenoR\Datathon\datathon_passos\apresentacao\figures\08_app_m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498348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80760" y="14447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717"/>
                </a:solidFill>
              </a:rPr>
              <a:t>No Streamlit, a equipe escolhe ano e aluno e vê:</a:t>
            </a:r>
            <a:endParaRPr lang="en-US" sz="920" dirty="0"/>
          </a:p>
        </p:txBody>
      </p:sp>
      <p:sp>
        <p:nvSpPr>
          <p:cNvPr id="7" name="Text 4"/>
          <p:cNvSpPr/>
          <p:nvPr/>
        </p:nvSpPr>
        <p:spPr>
          <a:xfrm>
            <a:off x="6080760" y="1874520"/>
            <a:ext cx="39319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</a:rPr>
              <a:t>- risco estimado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</a:rPr>
              <a:t>- situação de acompanhamento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</a:rPr>
              <a:t>- status sugerido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</a:rPr>
              <a:t>- fatores que chamaram atenção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</a:rPr>
              <a:t>- lista de prioridade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080760" y="3703320"/>
            <a:ext cx="3886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27064" y="3822192"/>
            <a:ext cx="359359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71717"/>
                </a:solidFill>
              </a:rPr>
              <a:t>Link do app: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71717"/>
                </a:solidFill>
              </a:rPr>
              <a:t>https://datathon-paapps-magicos-ml-jcpp4d6sagrv8qxwfscu73.streamlit.app/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685800" y="539496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</a:rPr>
              <a:t>A interface foi pensada para ser usada por gente, não só por cientista de dados.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7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CFEBDD"/>
                </a:solidFill>
              </a:rPr>
              <a:t>Fechando a ideia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 valor do projeto não está só em prever risco.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58368" y="20116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FF7"/>
                </a:solidFill>
              </a:rPr>
              <a:t>Está em transformar dados educacionais dispersos em uma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4FFF7"/>
                </a:solidFill>
              </a:rPr>
              <a:t>ferramenta de cuidado preventivo.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8368" y="3886200"/>
            <a:ext cx="4160520" cy="80467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4005072"/>
            <a:ext cx="386791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1717"/>
                </a:solidFill>
              </a:rPr>
              <a:t>Próximos passos: monitorar periodicamente, revisar intervenções e recalibrar o modelo conforme novos anos forem entrando.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74920" y="3886200"/>
            <a:ext cx="4160520" cy="804672"/>
          </a:xfrm>
          <a:prstGeom prst="rect">
            <a:avLst/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21224" y="4005072"/>
            <a:ext cx="386791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1717"/>
                </a:solidFill>
              </a:rPr>
              <a:t>A regra de ouro: o score apoia a triagem. A decisão final continua sendo da equipe da Passos Mágicos.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59253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FF5E8"/>
                </a:solidFill>
              </a:rPr>
              <a:t>olhar antes &gt; priorizar melhor &gt; agir com evidência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58368" y="6464808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CFEBDD"/>
                </a:solidFill>
              </a:rPr>
              <a:t>Datathon Passos Mágicos | Breno Azevedo</a:t>
            </a:r>
            <a:endParaRPr lang="en-US" sz="5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Datathon Passos Magicos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Datathon Passos Magicos - Apresentacao</dc:title>
  <dc:subject>Modelo de risco educacional e storytelling executivo</dc:subject>
  <dc:creator>Breno Azevedo</dc:creator>
  <cp:lastModifiedBy>Breno Azevedo</cp:lastModifiedBy>
  <cp:revision>1</cp:revision>
  <dcterms:created xsi:type="dcterms:W3CDTF">2026-05-16T22:15:29Z</dcterms:created>
  <dcterms:modified xsi:type="dcterms:W3CDTF">2026-05-16T22:15:29Z</dcterms:modified>
</cp:coreProperties>
</file>